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 ·  PROGRAMA DE FORMACIÓN  ·  MANTENIMIENTO DE MOTORES DIESEL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WORKSHOP</a:t>
            </a:r>
            <a:endParaRPr lang="en-US" sz="6400" dirty="0"/>
          </a:p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SPECIALIST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11480" y="25786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59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Guía 1.1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31272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A1.1 – A1.2  ·  GFPI-F-134  ·  8 Sessions · 2,880 min  ·  6 Formal Evidences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480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FACTORY ENGINE v2.0  ·  FPI SENA FACTORY  ·  RUN: DIESEL-2026-04-15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3C"/>
          </a:solidFill>
          <a:ln w="12700">
            <a:solidFill>
              <a:srgbClr val="1C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65960" cy="1874520"/>
          </a:xfrm>
          <a:prstGeom prst="rect">
            <a:avLst/>
          </a:prstGeom>
          <a:solidFill>
            <a:srgbClr val="1C2B3C"/>
          </a:solidFill>
          <a:ln w="12700">
            <a:solidFill>
              <a:srgbClr val="1C2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1965960" cy="128016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96112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7472" y="181051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13055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min each / 2,880 total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804672"/>
            <a:ext cx="1965960" cy="1874520"/>
          </a:xfrm>
          <a:prstGeom prst="rect">
            <a:avLst/>
          </a:prstGeom>
          <a:solidFill>
            <a:srgbClr val="1C2B3C"/>
          </a:solidFill>
          <a:ln w="12700">
            <a:solidFill>
              <a:srgbClr val="1C2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804672"/>
            <a:ext cx="1965960" cy="128016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896112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514600" y="181051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Formal Evidences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13055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 total + Final Mission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804672"/>
            <a:ext cx="1965960" cy="1874520"/>
          </a:xfrm>
          <a:prstGeom prst="rect">
            <a:avLst/>
          </a:prstGeom>
          <a:solidFill>
            <a:srgbClr val="1C2B3C"/>
          </a:solidFill>
          <a:ln w="12700">
            <a:solidFill>
              <a:srgbClr val="1C2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804672"/>
            <a:ext cx="1965960" cy="128016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896112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681728" y="181051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Toolbelt Terms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81728" y="213055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 / reusable cards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75704" y="804672"/>
            <a:ext cx="1965960" cy="1874520"/>
          </a:xfrm>
          <a:prstGeom prst="rect">
            <a:avLst/>
          </a:prstGeom>
          <a:solidFill>
            <a:srgbClr val="1C2B3C"/>
          </a:solidFill>
          <a:ln w="12700">
            <a:solidFill>
              <a:srgbClr val="1C2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804672"/>
            <a:ext cx="1965960" cy="128016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896112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A1.2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848856" y="181051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CEFR Target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48856" y="213055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A1.1 → Exit A1.2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852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THIS PROGRAM?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1.1 — The Workshop Specialist is a fully scaffolded English language unit for SENA apprentices in Diesel Engine Maintenance. Built on the GFPI-F-134 pedagogical contract, it moves learners through four SENA phases — Análisis, Comprensión, Apropiación, and Transferencia — inside a single immersive narrative: The Diesel Workshop, Bay 2. Every session, material, and evaluation is grounded in authentic workplace communication.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691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PM-3.3  ·  Guía 1.1 — The Workshop Specialist  ·  SENA DIESEL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NARRATIVE UNIVERSE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59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Diesel Workshop — Bay 2  ·  Monday 7:00 AM  ·  Training 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2724912" cy="352044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70432"/>
            <a:ext cx="2724912" cy="16459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898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CARLOS MENDOZA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8196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Supervisor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" y="2121408"/>
            <a:ext cx="2450592" cy="22860"/>
          </a:xfrm>
          <a:prstGeom prst="rect">
            <a:avLst/>
          </a:prstGeom>
          <a:solidFill>
            <a:srgbClr val="8A9DB5"/>
          </a:solidFill>
          <a:ln w="12700">
            <a:solidFill>
              <a:srgbClr val="8A9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194560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workplace authority.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624328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assignments and instructions.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3054096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in imperatives and commands.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483864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F1 (instruct) · F4 (assign)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3913632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in: All 8 sessions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1170432"/>
            <a:ext cx="2724912" cy="352044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1170432"/>
            <a:ext cx="272491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3898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VALENTINA CRUZ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10712" y="18196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 Technician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10712" y="2121408"/>
            <a:ext cx="2450592" cy="22860"/>
          </a:xfrm>
          <a:prstGeom prst="rect">
            <a:avLst/>
          </a:prstGeom>
          <a:solidFill>
            <a:srgbClr val="8A9DB5"/>
          </a:solidFill>
          <a:ln w="12700">
            <a:solidFill>
              <a:srgbClr val="8A9D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194560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learner-identification character.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10712" y="2624328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questions and requests tools.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10712" y="3054096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findings to the supervisor.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10712" y="3483864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F2 · F3 · F5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10712" y="3913632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in: All 8 sessions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9632" y="1170432"/>
            <a:ext cx="2724912" cy="352044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9632" y="1170432"/>
            <a:ext cx="272491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13898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SANTIAGO RÍOS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36792" y="18196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Technician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36792" y="2121408"/>
            <a:ext cx="2450592" cy="22860"/>
          </a:xfrm>
          <a:prstGeom prst="rect">
            <a:avLst/>
          </a:prstGeom>
          <a:solidFill>
            <a:srgbClr val="8A9DB5"/>
          </a:solidFill>
          <a:ln w="12700">
            <a:solidFill>
              <a:srgbClr val="8A9D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194560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peer and language model.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36792" y="2624328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novice to expert register.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36792" y="3054096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technical vocabulary.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36792" y="3483864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F1 · F3 · F4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36792" y="3913632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in: S4, S5, S7, S8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8691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PM-3.3  ·  Guía 1.1 — The Workshop Specialist  ·  SENA DIESEL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3C"/>
          </a:solidFill>
          <a:ln w="12700">
            <a:solidFill>
              <a:srgbClr val="1C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TOOLBELT — 20 TERMS · 5 CATEGORIES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118872" cy="18105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6868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179576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449324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workshop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719072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floor drain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988820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workbench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258568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overhead lift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6392" y="77724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777240"/>
            <a:ext cx="118872" cy="181051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86868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EQUIPMENT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179576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torque wrench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1449324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floor jack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1719072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socket set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1988820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oil drain pan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258568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pressure gauge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44184" y="77724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44184" y="777240"/>
            <a:ext cx="118872" cy="1810512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86868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4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45352" y="1179576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fire extinguisher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45352" y="1449324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45352" y="1719072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safety goggles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45352" y="1988820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spill kit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45352" y="2258568"/>
            <a:ext cx="24871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hazard cone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2788920"/>
            <a:ext cx="42245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788920"/>
            <a:ext cx="118872" cy="18105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288036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768" y="3191256"/>
            <a:ext cx="39684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preventive maintenance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9768" y="3461004"/>
            <a:ext cx="39684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calibration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9768" y="3730752"/>
            <a:ext cx="39684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lubrication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9768" y="4000500"/>
            <a:ext cx="39684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inspection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9768" y="4270248"/>
            <a:ext cx="39684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filter replacement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90872" y="2788920"/>
            <a:ext cx="42245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90872" y="2788920"/>
            <a:ext cx="118872" cy="18105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88036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191256"/>
            <a:ext cx="39684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work order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3461004"/>
            <a:ext cx="39684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inspection checklist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92040" y="3730752"/>
            <a:ext cx="39684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 log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4000500"/>
            <a:ext cx="39684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parts list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4270248"/>
            <a:ext cx="39684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daily report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8691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PM-3.3  ·  Guía 1.1 — The Workshop Specialist  ·  SENA DIESEL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LANGUAGE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communicative targets — taught, drilled, and evaluated across Sessions 2–8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94360" cy="62179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1097280"/>
            <a:ext cx="7699248" cy="62179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152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Dar instrucciones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4356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mood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77640" y="117043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6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"Check the oil. Close the valve. Secure the drain pan."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77640" y="1517904"/>
            <a:ext cx="4251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 S2 · S5 · S8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860804"/>
            <a:ext cx="594360" cy="62179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60804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97280" y="1860804"/>
            <a:ext cx="7699248" cy="62179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19156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Solicitar herramientas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21991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 + modal request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77640" y="193395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6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"Can I have the torque wrench, please?"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77640" y="2281428"/>
            <a:ext cx="4251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 S3 · S5 · S8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624328"/>
            <a:ext cx="594360" cy="62179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2432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97280" y="2624328"/>
            <a:ext cx="7699248" cy="62179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2679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Describir condiciones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2962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/ There 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77640" y="269748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6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"There is an oil leak near Bay 2. There are two filters."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77640" y="3044952"/>
            <a:ext cx="4251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 S2 · S4 · S5 · S8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387852"/>
            <a:ext cx="594360" cy="62179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387852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F4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97280" y="3387852"/>
            <a:ext cx="7699248" cy="62179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" y="34427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Reportar al supervisor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07008" y="37261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+ technical vocab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77640" y="346100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6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"Bay 2 is ready. All items are checked and documented."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977640" y="3808476"/>
            <a:ext cx="4251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 S4 · S5 · S8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4151376"/>
            <a:ext cx="594360" cy="62179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151376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F5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097280" y="4151376"/>
            <a:ext cx="7699248" cy="62179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07008" y="4206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Confirmar comprensión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07008" y="44897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+ affirmation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77640" y="422452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6E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 you mean the floor jack? — Yes, exactly. Understood."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977640" y="4572000"/>
            <a:ext cx="4251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 S2 · S5 · S8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8691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PM-3.3  ·  Guía 1.1 — The Workshop Specialist  ·  SENA DIESEL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3C"/>
          </a:solidFill>
          <a:ln w="12700">
            <a:solidFill>
              <a:srgbClr val="1C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8-SESSION ARC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" y="7132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8A9D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713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8A9D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NAME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93008" y="7132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8A9D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SENA PHASE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193792" y="7132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8A9D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 DOMAIN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62672" y="713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8A9D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1024128"/>
            <a:ext cx="8732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024128"/>
            <a:ext cx="502920" cy="4206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02412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078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Comes Alive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93008" y="10789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93792" y="1078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/ Oral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62672" y="10789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1499616"/>
            <a:ext cx="8732520" cy="420624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1499616"/>
            <a:ext cx="50292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149961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15544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Workshop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93008" y="15544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93792" y="15544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62672" y="1554480"/>
            <a:ext cx="123444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15544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1168" y="1975104"/>
            <a:ext cx="8732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1975104"/>
            <a:ext cx="502920" cy="420624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197510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20299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Workshop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93008" y="20299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20299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62672" y="2029968"/>
            <a:ext cx="1234440" cy="3108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2672" y="20299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01168" y="2450592"/>
            <a:ext cx="8732520" cy="420624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" y="2450592"/>
            <a:ext cx="502920" cy="420624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245059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25054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In &amp; Speaking Up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493008" y="25054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93792" y="250545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+ Speaking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62672" y="2505456"/>
            <a:ext cx="1234440" cy="310896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62672" y="250545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E3 + E4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" y="2926080"/>
            <a:ext cx="8732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1168" y="2926080"/>
            <a:ext cx="502920" cy="420624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292608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7240" y="29809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in Action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493008" y="298094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93792" y="298094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Functions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62672" y="2980944"/>
            <a:ext cx="1234440" cy="31089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62672" y="29809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01168" y="3401568"/>
            <a:ext cx="8732520" cy="420624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1168" y="3401568"/>
            <a:ext cx="502920" cy="420624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" y="340156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7240" y="34564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What You Know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493008" y="34564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93792" y="345643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skills (Quiz)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62672" y="3456432"/>
            <a:ext cx="1234440" cy="310896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62672" y="34564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E6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01168" y="3877056"/>
            <a:ext cx="8732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1168" y="3877056"/>
            <a:ext cx="502920" cy="420624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1168" y="38770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S7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77240" y="3931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Mission Prep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3493008" y="393192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193792" y="393192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(rehearsal)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662672" y="39319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01168" y="4352544"/>
            <a:ext cx="8732520" cy="420624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1168" y="4352544"/>
            <a:ext cx="502920" cy="420624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" y="435254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S8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77240" y="44074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Circle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3493008" y="44074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193792" y="440740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(performance)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662672" y="4407408"/>
            <a:ext cx="1234440" cy="310896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62672" y="44074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Mission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8691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PM-3.3  ·  Guía 1.1 — The Workshop Specialist  ·  SENA DIESEL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FORMAL EVIDENCES + FINAL MISSION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evidence activates a distinct skill domain  ·  5 pts each = 30 pts total  ·  + 5 pts Final Mission capstone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658368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61288" y="1051560"/>
            <a:ext cx="7616952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0881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Comprehension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1353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·  Lista de chequeo No 1  ·  5 pts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26280" y="11247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MC items · No Word Wall · Tests main idea, vocab in context, True/False, inference, structure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687068"/>
            <a:ext cx="658368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8706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161288" y="1687068"/>
            <a:ext cx="7616952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17236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Writing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19888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·  Lista de verificación No 2  ·  5 pts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6280" y="17602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criteria × 0.5 pt · Daily Inspection Checklist + Work Order · Word Wall visible (product)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322576"/>
            <a:ext cx="658368" cy="53035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2257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161288" y="2322576"/>
            <a:ext cx="7616952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2359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Comprehension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1872" y="2624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 ·  Lista de chequeo No 3  ·  5 pts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23957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MC items · 18-turn dialogue played once · No materials · Bay 2 Safety Briefing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958084"/>
            <a:ext cx="658368" cy="530352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58084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161288" y="2958084"/>
            <a:ext cx="7616952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29946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— Workshop 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61872" y="32598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 ·  Escala de estimación No 4  ·  5 pts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30312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holistic criteria · 60-65 sec report · Word Wall visible · 2 follow-up questions from bank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593592"/>
            <a:ext cx="658368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93592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E5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161288" y="3593592"/>
            <a:ext cx="7616952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3630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Language Functions Simulation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61872" y="38953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·  Escala de estimación No 5  ·  5 pts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26280" y="36667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criteria · Groups of 3 · 3-4 min simulation · Instructor + peer evaluation · F1–F5 assessed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229100"/>
            <a:ext cx="658368" cy="530352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22910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E6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1161288" y="4229100"/>
            <a:ext cx="7616952" cy="53035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61872" y="42656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Cuestionario Consolidado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61872" y="45308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 ·  Cuestionario No 6  ·  5 pts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26280" y="43022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items · 5 skill sections · 90 min · Zero materials · Reading / Vocab / Grammar / Listening / Functions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91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PM-3.3  ·  Guía 1.1 — The Workshop Specialist  ·  SENA DIESEL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3C"/>
          </a:solidFill>
          <a:ln w="12700">
            <a:solidFill>
              <a:srgbClr val="1C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CUESTIONARIO CONSOLIDADO No 6 — EVIDENCE 6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SKILL SECTIONS · 25 ITEMS TOTAL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18872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704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1 — Reading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447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items · 5 pts · Multiple Choice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0" y="1170432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92224"/>
            <a:ext cx="118872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65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2 — Vocabulary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1396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items · 5 pts · Multiple Choice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1865376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87168"/>
            <a:ext cx="118872" cy="59436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5603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3 — Grammar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2834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items · 5 pts · Multiple Choice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0" y="2560320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320040" y="3182112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82112"/>
            <a:ext cx="118872" cy="5943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552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4 — Listening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5295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items · 5 pts · Multiple Choice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0" y="3255264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4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320040" y="3877056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77056"/>
            <a:ext cx="118872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950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5 — Language Functions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4224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items · 5 pts · Multiple Choice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0" y="3950208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029200" y="768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 BANDS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1097280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0" y="1097280"/>
            <a:ext cx="118872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1207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 – 25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75120" y="12070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DESTACADO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0" y="1792224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0" y="1792224"/>
            <a:ext cx="118872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 – 22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675120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0" y="2487168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0" y="2487168"/>
            <a:ext cx="118872" cy="59436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25968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– 17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675120" y="25968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29200" y="3182112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0" y="3182112"/>
            <a:ext cx="118872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– 12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67512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029200" y="3877056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0" y="3877056"/>
            <a:ext cx="118872" cy="5943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0368" y="39867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4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– 7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675120" y="39867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LOGRADO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20040" y="4636008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 ·  Zero materials  ·  Session 6  ·  Per-section remediation path if score &lt; 3/5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8691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PM-3.3  ·  Guía 1.1 — The Workshop Specialist  ·  SENA DIESEL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FINAL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9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 2  ·  Monday 7:00 AM  ·  A Training Coordinator arrives at the workshop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REQUIREMENTS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Duration: 3 – 4 minutes per 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6479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Toolbelt terms: ≥ 15 of 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122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Exchanges: ≥ 3 per person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597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There is / There are: × 3 minimum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8072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Imperatives: ≥ 2 instances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1546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Bay identification + clean close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5021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reading from cards or scripts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84962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Follow-up question from instructor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097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ROLES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417320"/>
            <a:ext cx="3886200" cy="80467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417320"/>
            <a:ext cx="109728" cy="80467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490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Carlos Mendoza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38928" y="17922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Supervisor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38928" y="198424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(instruct) · F4 (report) · ≥ 4 instances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2350008"/>
            <a:ext cx="3886200" cy="80467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350008"/>
            <a:ext cx="109728" cy="80467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Valentina Cruz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38928" y="2724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 Technician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38928" y="291693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(request) · F3 (describe) · F5 (confirm)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3282696"/>
            <a:ext cx="3886200" cy="80467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282696"/>
            <a:ext cx="109728" cy="80467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355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Santiago Ríos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38928" y="3657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Technician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38928" y="384962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F3 · F4 · ≥ 3 instances each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251960"/>
            <a:ext cx="8321040" cy="45720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270248"/>
            <a:ext cx="8092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Escala de estimación No 6  ·  6 criteria  ·  Holistic average 1–5  ·  ~8 min per team  ·  One prompt allowed (bay number only)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8691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PM-3.3  ·  Guía 1.1 — The Workshop Specialist  ·  SENA DIESEL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3C"/>
          </a:solidFill>
          <a:ln w="12700">
            <a:solidFill>
              <a:srgbClr val="1C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PEDAGOGICAL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SENA PHASES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118872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7043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Activating prior knowledge · Gap Card pre-assessment · Narrative context launch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4767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47672"/>
            <a:ext cx="118872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391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Comprensión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Receptive input · Word Wall construction · Reading evidence (E1)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1635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16352"/>
            <a:ext cx="118872" cy="749808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0779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Apropiación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S3–S6 — All productive skills · 4 formal evidences (E2–E5) · Cuestionario (E6)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68503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685032"/>
            <a:ext cx="118872" cy="749808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77647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4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Transferencia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4069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S7–S8 — Dress rehearsal + live Final Mission · Full Circle reflection · Gap Card delta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768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1078992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1078992"/>
            <a:ext cx="118872" cy="749808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117043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Tripartite Structure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2352" y="1463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SET-UP (~25') · WHILE (5 blocks + BREAK 15') · WRAP-UP (~25') = exactly 360 min per session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1947672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1947672"/>
            <a:ext cx="118872" cy="749808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03911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Economía Principle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02352" y="2331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materials: Word Wall → Stock Cards → Gap Cards → Role Cards. Zero waste, maximum reactivation.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2816352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2816352"/>
            <a:ext cx="118872" cy="749808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290779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Activity Archetypes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02352" y="3200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Genre Analysis · B: Modeled Performance · C: Independent Task · D: Peer Review / Simulation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3685032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685032"/>
            <a:ext cx="118872" cy="749808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377647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Circle Motif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02352" y="4069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Gap Cards in S1 and S8 — learners re-rate themselves and calculate their own growth delta.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8691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C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PM-3.3  ·  Guía 1.1 — The Workshop Specialist  ·  SENA DIESEL 2026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“Same cards.</a:t>
            </a:r>
            <a:endParaRPr lang="en-US" sz="4400" dirty="0"/>
          </a:p>
          <a:p>
            <a:pPr algn="l" indent="0" marL="0">
              <a:buNone/>
            </a:pPr>
            <a:r>
              <a:rPr lang="en-US" sz="4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chart.</a:t>
            </a:r>
            <a:endParaRPr lang="en-US" sz="4400" dirty="0"/>
          </a:p>
          <a:p>
            <a:pPr algn="l" indent="0" marL="0">
              <a:buNone/>
            </a:pPr>
            <a:r>
              <a:rPr lang="en-US" sz="4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person.”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816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Circle Principle — Session 8, Guía 1.1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Apprentices end where they began — Bay 2, Monday 7:00 AM — but now they can speak, write, listen, and lead in English. The Gap Cards they rated in Session 1 become proof of growth in Session 8. Every material was designed to travel the full distance.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59316"/>
          </a:solidFill>
          <a:ln w="12700">
            <a:solidFill>
              <a:srgbClr val="F59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42569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“Bay is closed. Checklist: complete.”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PM-3.3 | The Workshop Specialist — Guía 1.1</dc:title>
  <dc:subject>PptxGenJS Presentation</dc:subject>
  <dc:creator>FPI SENA Factory — LG Engine v2.0</dc:creator>
  <cp:lastModifiedBy>FPI SENA Factory — LG Engine v2.0</cp:lastModifiedBy>
  <cp:revision>1</cp:revision>
  <dcterms:created xsi:type="dcterms:W3CDTF">2026-04-16T23:52:21Z</dcterms:created>
  <dcterms:modified xsi:type="dcterms:W3CDTF">2026-04-16T23:52:21Z</dcterms:modified>
</cp:coreProperties>
</file>